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2dfa75bfcc481a" /><Relationship Type="http://schemas.openxmlformats.org/officeDocument/2006/relationships/extended-properties" Target="/docProps/app.xml" Id="R8c1590152d114054" /><Relationship Type="http://schemas.openxmlformats.org/officeDocument/2006/relationships/officeDocument" Target="/ppt/presentation.xml" Id="R95819ab716c549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53cfff3aaa54247"/>
  </p:sldMasterIdLst>
  <p:notesMasterIdLst>
    <p:notesMasterId xmlns:r="http://schemas.openxmlformats.org/officeDocument/2006/relationships" r:id="R9ee3183dd1004bed"/>
  </p:notesMasterIdLst>
  <p:sldIdLst>
    <p:sldId xmlns:r="http://schemas.openxmlformats.org/officeDocument/2006/relationships" id="256" r:id="R277a074f7b3542e9"/>
    <p:sldId xmlns:r="http://schemas.openxmlformats.org/officeDocument/2006/relationships" id="257" r:id="Rf4f0da0016a54934"/>
    <p:sldId xmlns:r="http://schemas.openxmlformats.org/officeDocument/2006/relationships" id="258" r:id="Ra5417ba372a64dbd"/>
    <p:sldId xmlns:r="http://schemas.openxmlformats.org/officeDocument/2006/relationships" id="259" r:id="Ra59481ad190045eb"/>
    <p:sldId xmlns:r="http://schemas.openxmlformats.org/officeDocument/2006/relationships" id="260" r:id="R54d87287b7b4467a"/>
    <p:sldId xmlns:r="http://schemas.openxmlformats.org/officeDocument/2006/relationships" id="261" r:id="Ra65930016d0b4c84"/>
    <p:sldId xmlns:r="http://schemas.openxmlformats.org/officeDocument/2006/relationships" id="262" r:id="Rdf68fd5138834129"/>
    <p:sldId xmlns:r="http://schemas.openxmlformats.org/officeDocument/2006/relationships" id="263" r:id="R6085fba8746540a1"/>
    <p:sldId xmlns:r="http://schemas.openxmlformats.org/officeDocument/2006/relationships" id="264" r:id="R5336ce46c5cc426c"/>
    <p:sldId xmlns:r="http://schemas.openxmlformats.org/officeDocument/2006/relationships" id="265" r:id="R686fd489612c490f"/>
    <p:sldId xmlns:r="http://schemas.openxmlformats.org/officeDocument/2006/relationships" id="266" r:id="R974601ce5e0742cb"/>
    <p:sldId xmlns:r="http://schemas.openxmlformats.org/officeDocument/2006/relationships" id="267" r:id="Ra6890a780cdc4ba9"/>
    <p:sldId xmlns:r="http://schemas.openxmlformats.org/officeDocument/2006/relationships" id="268" r:id="Rbbe754ee61d0428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1a66934f3f447c" /><Relationship Type="http://schemas.openxmlformats.org/officeDocument/2006/relationships/slideMaster" Target="/ppt/slideMasters/slideMaster1.xml" Id="R653cfff3aaa54247" /><Relationship Type="http://schemas.openxmlformats.org/officeDocument/2006/relationships/notesMaster" Target="/ppt/notesMasters/notesMaster1.xml" Id="R9ee3183dd1004bed" /><Relationship Type="http://schemas.openxmlformats.org/officeDocument/2006/relationships/presProps" Target="/ppt/presProps.xml" Id="R0bfc51612db74cd8" /><Relationship Type="http://schemas.openxmlformats.org/officeDocument/2006/relationships/tableStyles" Target="/ppt/tableStyles.xml" Id="R78f74ac54b624958" /><Relationship Type="http://schemas.openxmlformats.org/officeDocument/2006/relationships/slide" Target="/ppt/slides/slide1.xml" Id="R277a074f7b3542e9" /><Relationship Type="http://schemas.openxmlformats.org/officeDocument/2006/relationships/slide" Target="/ppt/slides/slide2.xml" Id="Rf4f0da0016a54934" /><Relationship Type="http://schemas.openxmlformats.org/officeDocument/2006/relationships/slide" Target="/ppt/slides/slide3.xml" Id="Ra5417ba372a64dbd" /><Relationship Type="http://schemas.openxmlformats.org/officeDocument/2006/relationships/slide" Target="/ppt/slides/slide4.xml" Id="Ra59481ad190045eb" /><Relationship Type="http://schemas.openxmlformats.org/officeDocument/2006/relationships/slide" Target="/ppt/slides/slide5.xml" Id="R54d87287b7b4467a" /><Relationship Type="http://schemas.openxmlformats.org/officeDocument/2006/relationships/slide" Target="/ppt/slides/slide6.xml" Id="Ra65930016d0b4c84" /><Relationship Type="http://schemas.openxmlformats.org/officeDocument/2006/relationships/slide" Target="/ppt/slides/slide7.xml" Id="Rdf68fd5138834129" /><Relationship Type="http://schemas.openxmlformats.org/officeDocument/2006/relationships/slide" Target="/ppt/slides/slide8.xml" Id="R6085fba8746540a1" /><Relationship Type="http://schemas.openxmlformats.org/officeDocument/2006/relationships/slide" Target="/ppt/slides/slide9.xml" Id="R5336ce46c5cc426c" /><Relationship Type="http://schemas.openxmlformats.org/officeDocument/2006/relationships/slide" Target="/ppt/slides/slide10.xml" Id="R686fd489612c490f" /><Relationship Type="http://schemas.openxmlformats.org/officeDocument/2006/relationships/slide" Target="/ppt/slides/slide11.xml" Id="R974601ce5e0742cb" /><Relationship Type="http://schemas.openxmlformats.org/officeDocument/2006/relationships/slide" Target="/ppt/slides/slide12.xml" Id="Ra6890a780cdc4ba9" /><Relationship Type="http://schemas.openxmlformats.org/officeDocument/2006/relationships/slide" Target="/ppt/slides/slide13.xml" Id="Rbbe754ee61d042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d90028dc8a349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e75f0d13bb4ab1" /><Relationship Type="http://schemas.openxmlformats.org/officeDocument/2006/relationships/notesMaster" Target="/ppt/notesMasters/notesMaster1.xml" Id="R70cf3c9ac1834e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02cb4ee5fd464a" /><Relationship Type="http://schemas.openxmlformats.org/officeDocument/2006/relationships/notesMaster" Target="/ppt/notesMasters/notesMaster1.xml" Id="R4d5a4b16dfd641e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6f6036f4cf4dee" /><Relationship Type="http://schemas.openxmlformats.org/officeDocument/2006/relationships/notesMaster" Target="/ppt/notesMasters/notesMaster1.xml" Id="R358d2da1fcd645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c3eb2635434982" /><Relationship Type="http://schemas.openxmlformats.org/officeDocument/2006/relationships/notesMaster" Target="/ppt/notesMasters/notesMaster1.xml" Id="Re8b2365ced7140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a587e2a6d0b439c" /><Relationship Type="http://schemas.openxmlformats.org/officeDocument/2006/relationships/notesMaster" Target="/ppt/notesMasters/notesMaster1.xml" Id="Rfbb869a3c3b54f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cc1290193b4d51" /><Relationship Type="http://schemas.openxmlformats.org/officeDocument/2006/relationships/notesMaster" Target="/ppt/notesMasters/notesMaster1.xml" Id="R0d0fe263ba7243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80bb8158aa44b69" /><Relationship Type="http://schemas.openxmlformats.org/officeDocument/2006/relationships/notesMaster" Target="/ppt/notesMasters/notesMaster1.xml" Id="R5bca5d001e0249c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02082859354253" /><Relationship Type="http://schemas.openxmlformats.org/officeDocument/2006/relationships/notesMaster" Target="/ppt/notesMasters/notesMaster1.xml" Id="Re4c715ee7ddd452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e312343e0243cc" /><Relationship Type="http://schemas.openxmlformats.org/officeDocument/2006/relationships/notesMaster" Target="/ppt/notesMasters/notesMaster1.xml" Id="R8a7a1db10fe546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cfc4fc5b17a4713" /><Relationship Type="http://schemas.openxmlformats.org/officeDocument/2006/relationships/notesMaster" Target="/ppt/notesMasters/notesMaster1.xml" Id="R376dc439d83c45d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f675059df02420b" /><Relationship Type="http://schemas.openxmlformats.org/officeDocument/2006/relationships/notesMaster" Target="/ppt/notesMasters/notesMaster1.xml" Id="R96cf23f6f2a9477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ef8be4e0dbf4f42" /><Relationship Type="http://schemas.openxmlformats.org/officeDocument/2006/relationships/notesMaster" Target="/ppt/notesMasters/notesMaster1.xml" Id="Reb295521498444f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5efad6e0ef141a2" /><Relationship Type="http://schemas.openxmlformats.org/officeDocument/2006/relationships/notesMaster" Target="/ppt/notesMasters/notesMaster1.xml" Id="Re88300a9dcfd4f0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7057822f564bf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ee202814c44b9f" /><Relationship Type="http://schemas.openxmlformats.org/officeDocument/2006/relationships/slideLayout" Target="/ppt/slideLayouts/slideLayout1.xml" Id="Rd4f4597ea938480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f4597ea938480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5a90a5fda4b24" /><Relationship Type="http://schemas.openxmlformats.org/officeDocument/2006/relationships/notesSlide" Target="/ppt/notesSlides/notesSlide1.xml" Id="R99c166371bb546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d941d4b0a458c" /><Relationship Type="http://schemas.openxmlformats.org/officeDocument/2006/relationships/notesSlide" Target="/ppt/notesSlides/notesSlide2.xml" Id="R93399ff9ce2344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b008aea834f63" /><Relationship Type="http://schemas.openxmlformats.org/officeDocument/2006/relationships/notesSlide" Target="/ppt/notesSlides/notesSlide3.xml" Id="Rc33a042c915342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0da44027494029" /><Relationship Type="http://schemas.openxmlformats.org/officeDocument/2006/relationships/notesSlide" Target="/ppt/notesSlides/notesSlide4.xml" Id="R94147f5cae7e43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910b47a884594" /><Relationship Type="http://schemas.openxmlformats.org/officeDocument/2006/relationships/notesSlide" Target="/ppt/notesSlides/notesSlide5.xml" Id="R0f05fd2b4a864c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436fda91bf4d1b" /><Relationship Type="http://schemas.openxmlformats.org/officeDocument/2006/relationships/notesSlide" Target="/ppt/notesSlides/notesSlide6.xml" Id="R3a18825c82994b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3997996d0d4538" /><Relationship Type="http://schemas.openxmlformats.org/officeDocument/2006/relationships/notesSlide" Target="/ppt/notesSlides/notesSlide7.xml" Id="Re0d368dacea645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5262929104fe2" /><Relationship Type="http://schemas.openxmlformats.org/officeDocument/2006/relationships/notesSlide" Target="/ppt/notesSlides/notesSlide8.xml" Id="Rd32cfee620954f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c01e89237446a" /><Relationship Type="http://schemas.openxmlformats.org/officeDocument/2006/relationships/notesSlide" Target="/ppt/notesSlides/notesSlide9.xml" Id="Rc4f20a91842547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7b2269ce06486f" /><Relationship Type="http://schemas.openxmlformats.org/officeDocument/2006/relationships/notesSlide" Target="/ppt/notesSlides/notesSlide10.xml" Id="Red9f4a8026504e0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ac30992cc64042" /><Relationship Type="http://schemas.openxmlformats.org/officeDocument/2006/relationships/notesSlide" Target="/ppt/notesSlides/notesSlide11.xml" Id="R9a38c94f463445e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b80156d606411d" /><Relationship Type="http://schemas.openxmlformats.org/officeDocument/2006/relationships/notesSlide" Target="/ppt/notesSlides/notesSlide12.xml" Id="R621b87d91f79462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fbfce1d374e3d" /><Relationship Type="http://schemas.openxmlformats.org/officeDocument/2006/relationships/notesSlide" Target="/ppt/notesSlides/notesSlide13.xml" Id="R691ab4ca8e0441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E7349D-80C7-4B70-B943-D096BB04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DD665B-AA25-49FD-985C-077C36A4C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95450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EA7F6-105B-4BAF-8AAD-628E4B9D3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62050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2743C1-626C-4823-9A72-AE9ADFC9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E4BD9B-4439-4702-9C28-3A45C9510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9062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12096-C1D1-4624-89A6-6BA8DDC6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A1F39B-005A-471D-837B-9E080FA0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19125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CB132-5B2E-4433-BF5B-8DF286C18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810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6A000"/>
                </a:solidFill>
              </a:defRPr>
            </a:pPr>
            <a:r>
              <a:rPr sz="1350" b="1">
                <a:solidFill>
                  <a:srgbClr val="F6A000"/>
                </a:solidFill>
              </a:rPr>
              <a:t>TRABAJO FINAL ADA 2026-1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F49BF-1A11-4584-B316-A23D388B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257300"/>
            <a:ext cx="752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EUROSKY 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E273B-4017-4197-8B02-CAD7055F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71700"/>
            <a:ext cx="7667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D7DEE8"/>
                </a:solidFill>
              </a:defRPr>
            </a:pPr>
            <a:r>
              <a:rPr sz="1800" b="0">
                <a:solidFill>
                  <a:srgbClr val="D7DEE8"/>
                </a:solidFill>
              </a:rPr>
              <a:t>Sistema de optimización de rutas aéreas para maximizar la rentabilidad mediante grafos y algoritmos de caminos mínimos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E28BC-FF9D-4FDA-8397-071B2515E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57625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Docente: Jorge Eduardo Castañeda Alban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4BCECF-85C6-413A-B181-0C2D62075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362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Grupo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FA93DC-5CAF-4D01-B560-9B31447BE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8577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Integrantes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- Pamela Fabiana De la Rada Atapoma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- Carlos German Savero Huaranga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- Dominith Leoncio Salazar Goncalves</a:t>
            </a:r>
          </a:p>
        </p:txBody>
      </p:sp>
    </p:spTree>
    <p:extLst>
      <p:ext uri="{BB962C8B-B14F-4D97-AF65-F5344CB8AC3E}">
        <p14:creationId xmlns:p14="http://schemas.microsoft.com/office/powerpoint/2010/main" val="14505299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E1A2FA4-0E74-49AD-8ECE-248A77908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BDE2F-0840-4612-A2FA-ACEE7807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57399-A531-496D-8511-60291DF6A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16F61D-22A8-4F88-99AF-E20F26A37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68C49-268A-4075-B191-5FC6D0F3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ED637-31CB-40CA-8247-C603FA2A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731C9-7654-4E80-9056-491B048F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A118D-648E-4937-A9FC-550627E3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INTRODUCCIÓN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E5D981-05EB-48F3-B567-12868FDA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CONTEXTO DEL PROYECTO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038331-E269-4F39-9FCC-54BD06E3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5" b="0">
                <a:solidFill>
                  <a:srgbClr val="FFFFFF"/>
                </a:solidFill>
              </a:defRPr>
            </a:pPr>
            <a:r>
              <a:rPr sz="2325" b="0">
                <a:solidFill>
                  <a:srgbClr val="FFFFFF"/>
                </a:solidFill>
              </a:rPr>
              <a:t>El transporte aéreo europeo exige decisiones rápidas sobre conexiones, tiempos, costos y rentabilidad. EuroSky Connect propone una solución académica que modela los aeropuertos como una red de grafos para evaluar rutas comerciales y apoyar la toma de decisiones.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4928C0-04CD-4727-8A66-E3AEDC8C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59105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37D75"/>
          </a:solidFill>
          <a:ln xmlns:a="http://schemas.openxmlformats.org/drawingml/2006/main" w="0">
            <a:solidFill>
              <a:srgbClr val="137D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CEFB62-CDD5-4E3B-9D87-84F1CAF5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657725"/>
            <a:ext cx="1009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GRAFOS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BBD4B-8EC2-45CD-A8DF-81EAE630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910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3D66"/>
          </a:solidFill>
          <a:ln xmlns:a="http://schemas.openxmlformats.org/drawingml/2006/main" w="0">
            <a:solidFill>
              <a:srgbClr val="FF3D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47EFC-BCBF-4682-8035-9313731C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657725"/>
            <a:ext cx="13906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GOOGLE MAPS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CAAB3-1FAC-498C-9350-B1C72EA7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9105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6A000"/>
          </a:solidFill>
          <a:ln xmlns:a="http://schemas.openxmlformats.org/drawingml/2006/main" w="0">
            <a:solidFill>
              <a:srgbClr val="F6A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1F5924-30BD-42AD-8999-5D79CFEB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5772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JSON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A81BEB-16E6-46FE-87CB-60DDB86B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1"/>
                </a:solidFill>
              </a:defRPr>
            </a:pPr>
            <a:r>
              <a:rPr sz="1050" b="0">
                <a:solidFill>
                  <a:srgbClr val="A8B3C1"/>
                </a:solidFill>
              </a:rPr>
              <a:t>EuroSky Connect | Análisis y Diseño de Algoritmos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7BD68D-05B7-44E1-B483-EFA87FFF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913511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E88374-B24D-44A1-B9F6-D3F73C52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48E73A-CBD9-46A6-B1F2-70D874A6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95450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21225-6238-427B-AE4D-3CBC6C733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62050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74352A-3F4F-498D-82B3-F27004DBE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647104-87DE-4220-8515-47B8BD5B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9062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CA8D0-7505-4FDD-B051-5DD1B1CB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59BC5-3676-4BCB-9863-A86EDE86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19125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1D0DC-5F1F-4C8B-A281-B9225914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PROBLEMÁTICA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D2E6D-B97F-40B7-9F71-DAB289FE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RUTAS, COSTOS Y JORNADA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1EEB08-4401-403C-9E65-969E95BE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09800"/>
            <a:ext cx="771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7DEE8"/>
                </a:solidFill>
              </a:defRPr>
            </a:pPr>
            <a:r>
              <a:rPr sz="1650" b="0">
                <a:solidFill>
                  <a:srgbClr val="D7DEE8"/>
                </a:solidFill>
              </a:rPr>
              <a:t>La mala planificación incrementa combustible, tasas, escalas y tiempo de uso de aeronaves.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770B0-6356-4055-A4FC-D34A8823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ABAA5-EAB8-425C-99B8-5E0636C0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43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BE2806-EB56-4CCE-A8D3-8E28004C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43250"/>
            <a:ext cx="3143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16CF72-130E-4122-BC87-235964233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76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Costos operativos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E169E8-A09B-49FF-928E-AAE1D58E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EE8"/>
                </a:solidFill>
              </a:defRPr>
            </a:pPr>
            <a:r>
              <a:rPr sz="1500" b="0">
                <a:solidFill>
                  <a:srgbClr val="D7DEE8"/>
                </a:solidFill>
              </a:rPr>
              <a:t>Combustible, alquiler, tasas aeroportuarias y duración del vuelo afectan la utilidad final.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BB20E-9AB0-4A03-AEA2-C2D84E89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76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Demanda proyectada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0B4F9D-A44D-46A3-A468-9650C419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0005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EE8"/>
                </a:solidFill>
              </a:defRPr>
            </a:pPr>
            <a:r>
              <a:rPr sz="1500" b="0">
                <a:solidFill>
                  <a:srgbClr val="D7DEE8"/>
                </a:solidFill>
              </a:rPr>
              <a:t>La ruta debe considerar ingresos esperados según pasajeros y oportunidad comercial.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A21BB5-CDB1-4A87-A263-8E706CEB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76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Jornada operativa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8AFD4-4382-43B1-BFB7-0B62FC1D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0050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EE8"/>
                </a:solidFill>
              </a:defRPr>
            </a:pPr>
            <a:r>
              <a:rPr sz="1500" b="0">
                <a:solidFill>
                  <a:srgbClr val="D7DEE8"/>
                </a:solidFill>
              </a:rPr>
              <a:t>Cada alternativa debe respetar el límite diario de 480 minutos por aeronave.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4EE905-122E-4636-A35B-3936E7794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1"/>
                </a:solidFill>
              </a:defRPr>
            </a:pPr>
            <a:r>
              <a:rPr sz="1050" b="0">
                <a:solidFill>
                  <a:srgbClr val="A8B3C1"/>
                </a:solidFill>
              </a:rPr>
              <a:t>EuroSky Connect | Análisis y Diseño de Algoritmos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36B41-A283-41D1-AEA8-505C2FDC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626447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A9FFD9-25CD-4692-90A7-BDD6DD06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A972F-F7D5-4FB4-9266-6C5D2DE7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3A5ED-B27A-4F4F-BD93-FBC6B874A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1E677-476A-4DE4-8699-8BF99BB12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BCC528-998B-4015-801D-7717EC6BD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44D6B-A092-4BBB-96EA-2F5B5552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03643-5062-4CB9-8258-10C5BB7B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615EA9-AD75-48FA-AB96-0F4052DB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OBJETIVOS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683391-849D-4195-9C94-D121B800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QUÉ BUSCA RESOLVER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7D7DE-08A0-4A17-BB43-69223EF2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361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A000"/>
                </a:solidFill>
              </a:defRPr>
            </a:pPr>
            <a:r>
              <a:rPr sz="2250" b="1">
                <a:solidFill>
                  <a:srgbClr val="F6A000"/>
                </a:solidFill>
              </a:rPr>
              <a:t>Objetivo general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FB9D4A-01EA-43B8-A076-9E3C7217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28950"/>
            <a:ext cx="447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Diseñar e implementar un sistema basado en grafos y algoritmos de recorridos que permita optimizar rutas comerciales diarias, minimizando costos y maximizando rentabilidad.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74325-77C9-45CA-8425-6F7095CD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81250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A000"/>
                </a:solidFill>
              </a:defRPr>
            </a:pPr>
            <a:r>
              <a:rPr sz="2250" b="1">
                <a:solidFill>
                  <a:srgbClr val="F6A000"/>
                </a:solidFill>
              </a:rPr>
              <a:t>Objetivos específicos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D7BC41-A12C-4369-8ED3-D0F032A5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05125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- Modelar aeropuertos como nodos y rutas como aristas.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- Aplicar BFS, DFS, Dijkstra y algoritmos adicionales.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- Integrar Google Maps para visualizar recorridos.</a:t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- Generar ranking, comparación y reporte exportable.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492AB2-066A-4EA7-809A-538D797AB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1"/>
                </a:solidFill>
              </a:defRPr>
            </a:pPr>
            <a:r>
              <a:rPr sz="1050" b="0">
                <a:solidFill>
                  <a:srgbClr val="A8B3C1"/>
                </a:solidFill>
              </a:rPr>
              <a:t>EuroSky Connect | Análisis y Diseño de Algoritmos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CE6AA2-EB45-49A9-8539-1B3F4970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74801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AA2967-206B-45D1-A557-47686F9C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400DEE-0D54-458F-B6D2-7E58C716C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95450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AF390-403D-468B-A34C-9705E198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62050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B81376-833E-47DB-BC18-8EDD7FFA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0B7FD-FD11-4883-AA49-5CBB1FB1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9062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92F04F-C696-4613-BB99-E76E3E58F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0F28B-3D85-465A-B82E-856B5562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19125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35276F-4EBE-4E41-8DE7-CFAE63FD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TECNOLOGÍAS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6EAB60-CF97-4F75-87FD-A3697FA9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COMPONENTES EMPLEADOS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9AA455-AE5A-44DE-831C-92862B59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AF5E57-CA72-4485-969B-AD2182B6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HTML, CSS y JS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EEFCF-140C-416A-9F1C-A0E3A447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9087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8"/>
                </a:solidFill>
              </a:defRPr>
            </a:pPr>
            <a:r>
              <a:rPr sz="1350" b="0">
                <a:solidFill>
                  <a:srgbClr val="D7DEE8"/>
                </a:solidFill>
              </a:rPr>
              <a:t>Interfaz web, formularios, mapa, ranking, comparación y reportes.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5EFD17-1EB7-4005-B42A-19014B64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B14AA-8A13-4593-86BE-52DA749C0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813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6A000"/>
                </a:solidFill>
              </a:defRPr>
            </a:pPr>
            <a:r>
              <a:rPr sz="1950" b="1">
                <a:solidFill>
                  <a:srgbClr val="F6A000"/>
                </a:solidFill>
              </a:rPr>
              <a:t>Node.js + Express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22ABA5-CE23-4533-AF60-D63C1506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9087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8"/>
                </a:solidFill>
              </a:defRPr>
            </a:pPr>
            <a:r>
              <a:rPr sz="1350" b="0">
                <a:solidFill>
                  <a:srgbClr val="D7DEE8"/>
                </a:solidFill>
              </a:rPr>
              <a:t>Servicio backend que expone endpoints y conecta datos con el frontend.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6F41E-3EE1-4941-874F-EAF5C46A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0480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979990-A670-4586-B037-C73BFC7C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81300"/>
            <a:ext cx="2590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C++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BFF75-277E-4230-B262-1D6E0A0D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90875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8"/>
                </a:solidFill>
              </a:defRPr>
            </a:pPr>
            <a:r>
              <a:rPr sz="1350" b="0">
                <a:solidFill>
                  <a:srgbClr val="D7DEE8"/>
                </a:solidFill>
              </a:rPr>
              <a:t>Implementación académica de nodos, aristas, grafo y algoritmos.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4E4029-61CA-4584-AF4E-AF380F3F8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577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49B7DC-EC50-4D6E-8A58-8F04DEA6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672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JSON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CC24F0-0D7A-418D-9070-6D2D93C5D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76825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8"/>
                </a:solidFill>
              </a:defRPr>
            </a:pPr>
            <a:r>
              <a:rPr sz="1350" b="0">
                <a:solidFill>
                  <a:srgbClr val="D7DEE8"/>
                </a:solidFill>
              </a:rPr>
              <a:t>Persistencia local sin SQLite ni otra base de datos relacional.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33B6D9-5A55-40FF-A10E-026CAAC8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57700"/>
            <a:ext cx="47625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AEA1C2-AACF-4BBA-9BA0-DA4F05292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667250"/>
            <a:ext cx="430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Google Maps 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23A917-1C5F-4BEC-9217-E2A07841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076825"/>
            <a:ext cx="4305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8"/>
                </a:solidFill>
              </a:defRPr>
            </a:pPr>
            <a:r>
              <a:rPr sz="1350" b="0">
                <a:solidFill>
                  <a:srgbClr val="D7DEE8"/>
                </a:solidFill>
              </a:rPr>
              <a:t>Mapa, marcadores y trazado visual de rutas aéreas.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A723A9-5464-4B4F-903D-912C9DE89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1"/>
                </a:solidFill>
              </a:defRPr>
            </a:pPr>
            <a:r>
              <a:rPr sz="1050" b="0">
                <a:solidFill>
                  <a:srgbClr val="A8B3C1"/>
                </a:solidFill>
              </a:rPr>
              <a:t>EuroSky Connect | Análisis y Diseño de Algoritmos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448C10-FB44-49EA-82A5-642A1E68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251004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15C292-E6CB-4B3F-9400-43735009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E92A1-D8A6-4225-BB57-A715C226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7F388-102D-41FD-A640-EA348704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E8288-A36E-4781-9E7E-6E20CD02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2EA5CD-8BB9-4835-9F30-6420DC52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A1AA81-CDC9-49D8-B90A-CC2AF8C6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5DA5AA-2917-4A2E-8B8F-F106FAE9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EA745-6ED5-4511-87D8-37711583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ARQUITECTURA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74DA98-468C-4191-A2B9-2A111C01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CÓMO FLUYE LA INFORMACIÓN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8BC7C-693A-4842-AFA9-E8A65F6E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5"/>
          </a:solidFill>
          <a:ln xmlns:a="http://schemas.openxmlformats.org/drawingml/2006/main" w="0">
            <a:solidFill>
              <a:srgbClr val="137D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CF53A-2E7F-4607-9D06-D2F7CAEA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242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Usuario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12D288-B7FB-4B28-B287-6F6DC1DEB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147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B47528-8A26-4F3F-A405-AF6C54CC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5"/>
          </a:solidFill>
          <a:ln xmlns:a="http://schemas.openxmlformats.org/drawingml/2006/main" w="0">
            <a:solidFill>
              <a:srgbClr val="137D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EE0A8-92C2-47A8-A8E9-AA0262E0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242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FF1F46-159E-46F3-B711-680FAF9C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7147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B27B78-5218-49E8-85F3-D039044C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A000"/>
          </a:solidFill>
          <a:ln xmlns:a="http://schemas.openxmlformats.org/drawingml/2006/main" w="0">
            <a:solidFill>
              <a:srgbClr val="F6A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325D94-892A-44CB-930A-BC8AB3FEF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242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Backend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Express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643FC7-8D96-4F53-B2C4-B0ED66B1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B9DFC-3BE5-4D9D-9A28-F68EBC77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5"/>
          </a:solidFill>
          <a:ln xmlns:a="http://schemas.openxmlformats.org/drawingml/2006/main" w="0">
            <a:solidFill>
              <a:srgbClr val="137D7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10CF12-073C-45DF-98C1-2DAFEB40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242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JSON +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data_sources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246FF3-E103-41C1-BBF9-24882C80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14750"/>
            <a:ext cx="781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E40BFB-4B1E-4DBA-8FC7-887FD05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62300"/>
            <a:ext cx="1162050" cy="1162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5"/>
          </a:solidFill>
          <a:ln xmlns:a="http://schemas.openxmlformats.org/drawingml/2006/main" w="0">
            <a:solidFill>
              <a:srgbClr val="137D7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5B63C6-66DD-4A06-BD6C-CE310A583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971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Google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Maps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C0D57F-F391-4A22-94B1-CB9D09F45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05375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La página envía origen, destino, fecha y algoritmo. El backend consulta los archivos JSON, ejecuta la lógica de rutas y devuelve resultados listos para mapa, ranking, comparación y reporte.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54D432-1479-4057-BDCC-6D4DE7C5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1"/>
                </a:solidFill>
              </a:defRPr>
            </a:pPr>
            <a:r>
              <a:rPr sz="1050" b="0">
                <a:solidFill>
                  <a:srgbClr val="A8B3C1"/>
                </a:solidFill>
              </a:rPr>
              <a:t>EuroSky Connect | Análisis y Diseño de Algoritmos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CF97E3-441A-4046-AF55-64377EF8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410814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712455-23F7-4A36-B0F1-88AFFC6F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8092F4-A6FD-40C9-B46A-79A45087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95450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9C666-C982-43E3-AC86-21C5EB1B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62050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FFA506-B16C-4932-8CCE-B63ADAF7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11060A-3342-4FFA-9E2C-2AAD581E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9062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47FFC-D477-4200-8BA6-14F60338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6A60B0-715A-4FE3-BA7F-B094644B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19125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E3677-1429-43F8-AB0B-588E02CC9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CONSTRUCCIÓN DEL GRAFO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069AB-ADE6-466A-8E8A-79D96906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NODOS Y ARISTAS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C9844-BA7E-45FE-9E2D-E2B431899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479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A000"/>
                </a:solidFill>
              </a:defRPr>
            </a:pPr>
            <a:r>
              <a:rPr sz="2250" b="1">
                <a:solidFill>
                  <a:srgbClr val="F6A000"/>
                </a:solidFill>
              </a:rPr>
              <a:t>Nodo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4DE07-9127-4028-A7B9-D6C7C93A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Aeropuerto europeo con nombre, código IATA, país, ciudad, latitud y longitud.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72C34E-9114-41C3-9958-010375C39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43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6A000"/>
                </a:solidFill>
              </a:defRPr>
            </a:pPr>
            <a:r>
              <a:rPr sz="2250" b="1">
                <a:solidFill>
                  <a:srgbClr val="F6A000"/>
                </a:solidFill>
              </a:rPr>
              <a:t>Arista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CA859D-0F05-4C63-9CC8-381EBF22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3870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</a:defRPr>
            </a:pPr>
            <a:r>
              <a:rPr sz="1725" b="0">
                <a:solidFill>
                  <a:srgbClr val="FFFFFF"/>
                </a:solidFill>
              </a:rPr>
              <a:t>Ruta dirigida con distancia, tiempo, costo, ingreso esperado y beneficio neto.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CDC125-52BB-4DF3-85E2-850FCDF2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4325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CE4C9E-595F-4611-A61D-4C5B418A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10050"/>
            <a:ext cx="1428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717153-C0A9-4B12-BBB9-3EAD73C4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95700"/>
            <a:ext cx="1619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A000"/>
          </a:solidFill>
          <a:ln xmlns:a="http://schemas.openxmlformats.org/drawingml/2006/main" w="0">
            <a:solidFill>
              <a:srgbClr val="F6A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EB4251-D543-49D0-8F6D-31E88359B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765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5"/>
          </a:solidFill>
          <a:ln xmlns:a="http://schemas.openxmlformats.org/drawingml/2006/main" w="0">
            <a:solidFill>
              <a:srgbClr val="137D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95B4AC-BF7B-4E38-B672-464CF97A5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8194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CDG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940AE-5B48-4B7E-A797-5BA7F33D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861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5"/>
          </a:solidFill>
          <a:ln xmlns:a="http://schemas.openxmlformats.org/drawingml/2006/main" w="0">
            <a:solidFill>
              <a:srgbClr val="137D7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6A3A4-A7CA-4F41-A434-6F8C0E48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2902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AMS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C93BFC-E62D-4E03-86F5-0E93935A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95300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7D75"/>
          </a:solidFill>
          <a:ln xmlns:a="http://schemas.openxmlformats.org/drawingml/2006/main" w="0">
            <a:solidFill>
              <a:srgbClr val="137D7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B5CC5-68C0-4CC7-BCB3-4DA29ACC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5295900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BER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41CED8-02BD-44C2-ACD2-C7F9D4F9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1"/>
                </a:solidFill>
              </a:defRPr>
            </a:pPr>
            <a:r>
              <a:rPr sz="1050" b="0">
                <a:solidFill>
                  <a:srgbClr val="A8B3C1"/>
                </a:solidFill>
              </a:rPr>
              <a:t>EuroSky Connect | Análisis y Diseño de Algoritmos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71BF08-F280-49A6-9847-48DD56F0A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05127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739EA-9C7C-4F7A-AB59-91C3F02C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6D8ABC-0827-435D-9545-F747CA28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53940-B017-4E97-B46D-826A18E9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11DDEC-54E7-400C-A141-259F8BDD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B0D8A-C5EA-45B8-ABA7-0DF87E7F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562F13-5AB3-44CC-B886-BF4EF919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96CB55-A68D-4F1E-A72B-06FCBBAA8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012F73-4348-4FCC-9E9E-0805803F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ALGORITMOS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9DE3E5-A4B1-42F4-9329-6604BE55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CRITERIOS DE BÚSQUEDA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8E65DB-FCE4-49AF-BFB4-4B670F198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10382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37D75"/>
          </a:solidFill>
          <a:ln xmlns:a="http://schemas.openxmlformats.org/drawingml/2006/main" w="9525">
            <a:solidFill>
              <a:srgbClr val="137D7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1F13F-4872-4060-82D1-456982B9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431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Dijkstra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3FD749-101D-4448-869A-37B41303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431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Menor costo acumulado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EFBA6E-F906-47C4-AE2D-7BBDB5FD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241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8"/>
                </a:solidFill>
              </a:defRPr>
            </a:pPr>
            <a:r>
              <a:rPr sz="1275" b="0">
                <a:solidFill>
                  <a:srgbClr val="D7DEE8"/>
                </a:solidFill>
              </a:rPr>
              <a:t>Evalúa pesos y prioriza la alternativa más económica.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FAFD6-7F1D-4A0D-BE65-18706D26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10382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6C3D37-16D5-436E-8320-9546426A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BFS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F7FE55-908B-4DC5-B94F-D8470C1F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623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A000"/>
                </a:solidFill>
              </a:defRPr>
            </a:pPr>
            <a:r>
              <a:rPr sz="1575" b="1">
                <a:solidFill>
                  <a:srgbClr val="F6A000"/>
                </a:solidFill>
              </a:rPr>
              <a:t>Menor cantidad de escalas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461A25-BC50-47A5-8C0C-42238A34C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3432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8"/>
                </a:solidFill>
              </a:defRPr>
            </a:pPr>
            <a:r>
              <a:rPr sz="1275" b="0">
                <a:solidFill>
                  <a:srgbClr val="D7DEE8"/>
                </a:solidFill>
              </a:rPr>
              <a:t>Explora por niveles y favorece rutas con menos saltos.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0A7AB5-45F7-4279-97BF-F433C7A0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10382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E8E977-8DA0-4D4F-AEDF-34BE83D0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814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DFS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E21198-2C59-40C6-A6B4-55AAF0EE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8147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A000"/>
                </a:solidFill>
              </a:defRPr>
            </a:pPr>
            <a:r>
              <a:rPr sz="1575" b="1">
                <a:solidFill>
                  <a:srgbClr val="F6A000"/>
                </a:solidFill>
              </a:rPr>
              <a:t>Exploración profunda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983E9-4C02-4DBD-AABB-213347DD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16242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8"/>
                </a:solidFill>
              </a:defRPr>
            </a:pPr>
            <a:r>
              <a:rPr sz="1275" b="0">
                <a:solidFill>
                  <a:srgbClr val="D7DEE8"/>
                </a:solidFill>
              </a:rPr>
              <a:t>Recorre alternativas completas para simular trayectos posibles.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77D1C0-39DD-408D-B61E-522CC6DC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03822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623DE8-4B0A-4458-AF22-826CBA06A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006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Greedy, Monte Carlo y Bellman-Ford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61B88-5D3A-4A4E-9425-4F4CE6D3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00625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6A000"/>
                </a:solidFill>
              </a:defRPr>
            </a:pPr>
            <a:r>
              <a:rPr sz="1575" b="1">
                <a:solidFill>
                  <a:srgbClr val="F6A000"/>
                </a:solidFill>
              </a:rPr>
              <a:t>Extensión del motor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18322D-BD36-4FF2-9352-609E16FC6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9815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7DEE8"/>
                </a:solidFill>
              </a:defRPr>
            </a:pPr>
            <a:r>
              <a:rPr sz="1275" b="0">
                <a:solidFill>
                  <a:srgbClr val="D7DEE8"/>
                </a:solidFill>
              </a:rPr>
              <a:t>Permiten comparar nuevos enfoques sin rehacer la interfaz.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5C57B8-E6E1-4D72-9F38-4B9652FC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1"/>
                </a:solidFill>
              </a:defRPr>
            </a:pPr>
            <a:r>
              <a:rPr sz="1050" b="0">
                <a:solidFill>
                  <a:srgbClr val="A8B3C1"/>
                </a:solidFill>
              </a:rPr>
              <a:t>EuroSky Connect | Análisis y Diseño de Algoritmos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385BD3-9B06-47B6-830B-72429998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35619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325543-D129-4E35-B8E1-BDE283871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51DA51-C303-412D-80E8-9D508B20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95450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D7FCD-8DAE-4347-BE1C-0CA6482A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62050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739E29-5424-4FDA-A700-514DF859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C895FA-36F7-4BCE-A946-2FB3BA9A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9062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22088-147C-4DB5-8002-BE745771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E919BE-25AA-4B05-9187-B51FABE00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19125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EF42F9-B127-4B4B-93E3-D94F97580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COSTO Y RENTABILIDAD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B456FC-909F-4E9F-9703-E68CF1D3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FUNCIÓN DE EVALUACIÓN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D9D3A9-2CAD-46CE-A57C-64A143EA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4333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200F6-6CDC-4F19-8D0F-E56CF678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857500"/>
            <a:ext cx="4333875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BCA630-8E6D-48FF-BF59-A625A96C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19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A000"/>
                </a:solidFill>
              </a:defRPr>
            </a:pPr>
            <a:r>
              <a:rPr sz="2325" b="1">
                <a:solidFill>
                  <a:srgbClr val="F6A000"/>
                </a:solidFill>
              </a:rPr>
              <a:t>Costo total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7B20BD-6AB6-45A1-AD0C-8F2F7B30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48100"/>
            <a:ext cx="333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costo operativo + tasa aeroportuaria + alquiler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35D13-74C6-4C87-B806-86455511C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8"/>
                </a:solidFill>
              </a:defRPr>
            </a:pPr>
            <a:r>
              <a:rPr sz="1350" b="0">
                <a:solidFill>
                  <a:srgbClr val="D7DEE8"/>
                </a:solidFill>
              </a:rPr>
              <a:t>Funciona como peso de la arista para los cálculos de menor costo.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C02CD-3487-4295-9D2D-53966176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194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6A000"/>
                </a:solidFill>
              </a:defRPr>
            </a:pPr>
            <a:r>
              <a:rPr sz="2325" b="1">
                <a:solidFill>
                  <a:srgbClr val="F6A000"/>
                </a:solidFill>
              </a:rPr>
              <a:t>Beneficio neto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68E423-9D0E-42ED-B163-2F3FBF35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848100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ingreso esperado - costo total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31952F-1242-4C0E-BC06-EA61111D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47675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EE8"/>
                </a:solidFill>
              </a:defRPr>
            </a:pPr>
            <a:r>
              <a:rPr sz="1350" b="0">
                <a:solidFill>
                  <a:srgbClr val="D7DEE8"/>
                </a:solidFill>
              </a:rPr>
              <a:t>Permite ordenar rutas por rentabilidad y tomar decisiones comerciales.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61B8D-E1A0-4981-A072-B76686CF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1"/>
                </a:solidFill>
              </a:defRPr>
            </a:pPr>
            <a:r>
              <a:rPr sz="1050" b="0">
                <a:solidFill>
                  <a:srgbClr val="A8B3C1"/>
                </a:solidFill>
              </a:rPr>
              <a:t>EuroSky Connect | Análisis y Diseño de Algoritmos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B556F-D946-4E89-834B-5B405152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8742715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97553D-4AFE-4134-8196-8FDB0861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F64F1-0EEC-46EC-AF54-304C903A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13A574-5689-41B7-ADA5-362C04DD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61A32D-1C64-4FBB-8C0A-D10E07F78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D4BEF-F126-45F6-9D57-8F140811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AE435-93BD-4454-8631-5FC63E48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DABCAD-E067-471D-9268-265CF4A2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44D9F4-46D6-4510-B33C-CFB11D59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INTERFAZ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A157D5-EAEB-43AF-8095-2E026EA2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CONSULTA, MAPA Y REPORTES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028BA-D4A1-401E-AFB4-D9CB4CF8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47950"/>
            <a:ext cx="5762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- El usuario selecciona origen, destino, fecha y algoritmo.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- El mapa de Google muestra aeropuertos y traza el recorrido.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- El ranking presenta las tres mejores rutas para el algoritmo solicitado.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- La comparación resume el comportamiento de todos los algoritmos disponibles.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</a:defRPr>
            </a:pPr>
            <a:r>
              <a:rPr sz="1875" b="0">
                <a:solidFill>
                  <a:srgbClr val="FFFFFF"/>
                </a:solidFill>
              </a:rPr>
              <a:t>- El reporte exporta recorrido, costo total, ingreso, beneficio y secuencia.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686F17-07A0-4C15-9F84-7350FC895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3143250" cy="2286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AD064-B1D9-4D73-8875-AD44A492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0510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6A000"/>
                </a:solidFill>
              </a:defRPr>
            </a:pPr>
            <a:r>
              <a:rPr sz="1800" b="1">
                <a:solidFill>
                  <a:srgbClr val="F6A000"/>
                </a:solidFill>
              </a:rPr>
              <a:t>MAPA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33817D-3DA4-4292-BA70-D78373C0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3337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D66"/>
          </a:solidFill>
          <a:ln xmlns:a="http://schemas.openxmlformats.org/drawingml/2006/main" w="0">
            <a:solidFill>
              <a:srgbClr val="FF3D6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4C790-5D43-413B-8FA4-33E45B1F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857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3D66"/>
          </a:solidFill>
          <a:ln xmlns:a="http://schemas.openxmlformats.org/drawingml/2006/main" w="0">
            <a:solidFill>
              <a:srgbClr val="FF3D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A13E5C-1B6E-43B3-80A1-1BFA4745B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676650"/>
            <a:ext cx="1257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BBF73E-9910-4874-909B-064884C4F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04825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D7DEE8"/>
                </a:solidFill>
              </a:defRPr>
            </a:pPr>
            <a:r>
              <a:rPr sz="1425" b="0">
                <a:solidFill>
                  <a:srgbClr val="D7DEE8"/>
                </a:solidFill>
              </a:rPr>
              <a:t>Google Maps activo</a:t>
            </a:r>
          </a:p>
          <a:p xmlns:a="http://schemas.openxmlformats.org/drawingml/2006/main">
            <a:pPr algn="ctr">
              <a:defRPr sz="1425" b="0">
                <a:solidFill>
                  <a:srgbClr val="D7DEE8"/>
                </a:solidFill>
              </a:defRPr>
            </a:pPr>
            <a:r>
              <a:rPr sz="1425" b="0">
                <a:solidFill>
                  <a:srgbClr val="D7DEE8"/>
                </a:solidFill>
              </a:rPr>
              <a:t>para visualizar rutas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A7974-45ED-4126-B02B-F14233D54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1"/>
                </a:solidFill>
              </a:defRPr>
            </a:pPr>
            <a:r>
              <a:rPr sz="1050" b="0">
                <a:solidFill>
                  <a:srgbClr val="A8B3C1"/>
                </a:solidFill>
              </a:rPr>
              <a:t>EuroSky Connect | Análisis y Diseño de Algoritmos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D8111C-6176-45D4-8CEE-BB81F219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552525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171F08-3F5E-4828-8848-AA0FC1EA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A508FF-116F-40A6-AAB4-9D7D24A2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95450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196DAD-2F21-4AC7-9883-AB477DB8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62050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ED359-7B80-4FAB-9236-0AA7CC53F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C1D89C-4AED-4B27-9669-826D274B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9062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6353E3-8DC3-47EE-979B-A449488E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B8CE73-4AA1-49AA-800C-486F51E3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19125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63AC4E-353C-43B2-B6A3-334DBC28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RESULTADOS PRELIMINARES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026A63-4097-4D16-A215-49357725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SIMULACIÓN CON RUTAS PILOTO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89A0C5-70B1-441F-9296-0D666DC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E0E1E-C531-42B6-966C-18BBB4D14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36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6D861-5AFA-43DE-A72D-41C4828E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67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DEE8"/>
                </a:solidFill>
              </a:defRPr>
            </a:pPr>
            <a:r>
              <a:rPr sz="1125" b="1">
                <a:solidFill>
                  <a:srgbClr val="D7DEE8"/>
                </a:solidFill>
              </a:rPr>
              <a:t>aeropuertos europeos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5CB41-B1F5-4701-A4A0-347A71B0E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7622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3D02C-2EC4-440F-B1FB-3199511C4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337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86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81A6F-D19F-430E-BB65-CC39AD0C0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67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DEE8"/>
                </a:solidFill>
              </a:defRPr>
            </a:pPr>
            <a:r>
              <a:rPr sz="1125" b="1">
                <a:solidFill>
                  <a:srgbClr val="D7DEE8"/>
                </a:solidFill>
              </a:rPr>
              <a:t>rutas base registradas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0A2DB6-49BD-425D-9201-281DE262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7622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3000D0-7703-41F0-9612-462EB8656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337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480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22F98-DD44-40BB-A7CE-C08E130E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67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DEE8"/>
                </a:solidFill>
              </a:defRPr>
            </a:pPr>
            <a:r>
              <a:rPr sz="1125" b="1">
                <a:solidFill>
                  <a:srgbClr val="D7DEE8"/>
                </a:solidFill>
              </a:rPr>
              <a:t>minutos por jornada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11EA3E-BB46-4989-9D47-EDB2307C6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762250"/>
            <a:ext cx="2095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1A20"/>
          </a:solidFill>
          <a:ln xmlns:a="http://schemas.openxmlformats.org/drawingml/2006/main" w="9525">
            <a:solidFill>
              <a:srgbClr val="4B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23C43DD-3506-4CC6-850E-08D1C14A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33700"/>
            <a:ext cx="1524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042F3D-FE81-4681-877D-23FF47B4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6710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D7DEE8"/>
                </a:solidFill>
              </a:defRPr>
            </a:pPr>
            <a:r>
              <a:rPr sz="1125" b="1">
                <a:solidFill>
                  <a:srgbClr val="D7DEE8"/>
                </a:solidFill>
              </a:rPr>
              <a:t>algoritmos visibles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5EA9EF-CC42-4180-889E-152C533B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Ejemplo evaluado: París (CDG) - Berlín (BER). Dijkstra prioriza menor costo, BFS reduce escalas y DFS permite revisar trayectos alternativos dentro del grafo.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E6CDC0-83C5-4696-BCC6-52293470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1"/>
                </a:solidFill>
              </a:defRPr>
            </a:pPr>
            <a:r>
              <a:rPr sz="1050" b="0">
                <a:solidFill>
                  <a:srgbClr val="A8B3C1"/>
                </a:solidFill>
              </a:rPr>
              <a:t>EuroSky Connect | Análisis y Diseño de Algoritmos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E4555A-19D0-4806-BC60-88D7CA393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521075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EDD95B-B523-47D7-83C2-2F0C4B80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EE4A0F-DFF8-4AC8-907D-C36FE949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403C30-5494-46D8-B81F-0279B27A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15A9C-C647-490C-B46B-0A1C71F9B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2C549-9AF8-4FA9-8C8D-F66BEFEB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84BF7B-4C5D-403A-A778-F3484909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EB934-78A5-4922-911F-5A513CB1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F6B273-FB4E-447A-B2E1-FFB37092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INCONVENIENTES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63126-BEFC-4633-B1A8-D8633B31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RETOS DURANTE EL DESARROLLO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F580E5-9B19-4FF8-A6C0-68A60FCD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628900"/>
            <a:ext cx="9334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- Proteger la clave de Google Maps usando .env y .gitignore.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- Mantener persistencia solo con JSON, sin SQLite ni otra base de datos.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- Conectar data.json y data_sources para enriquecer rutas y aeropuertos.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- Evitar que algoritmos diferentes entreguen siempre el mismo resultado.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- Organizar el frontend para mostrar ranking, comparación y reportes de forma clara.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6A6DE6-55FB-4D1B-8FB1-1202455B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8B3C1"/>
                </a:solidFill>
              </a:defRPr>
            </a:pPr>
            <a:r>
              <a:rPr sz="1050" b="0">
                <a:solidFill>
                  <a:srgbClr val="A8B3C1"/>
                </a:solidFill>
              </a:rPr>
              <a:t>EuroSky Connect | Análisis y Diseño de Algoritmos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9D8A14-CC4F-4286-9BFF-81CC60F49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6286500"/>
            <a:ext cx="609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D9E2EC"/>
                </a:solidFill>
              </a:defRPr>
            </a:pPr>
            <a:r>
              <a:rPr sz="1350" b="1">
                <a:solidFill>
                  <a:srgbClr val="D9E2EC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7516601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3030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54FEE4-9280-4EAF-B65D-BD3E4E69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190750" y="552450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171A2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00F979-1391-4214-A6C1-F19B9B582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95450" y="1095375"/>
            <a:ext cx="2914650" cy="2914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2832"/>
          </a:solidFill>
          <a:ln xmlns:a="http://schemas.openxmlformats.org/drawingml/2006/main" w="0">
            <a:solidFill>
              <a:srgbClr val="222832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78556-815A-49A3-944B-84FF6FF91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62050" y="1628775"/>
            <a:ext cx="1847850" cy="1847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23A45"/>
          </a:solidFill>
          <a:ln xmlns:a="http://schemas.openxmlformats.org/drawingml/2006/main" w="0">
            <a:solidFill>
              <a:srgbClr val="323A4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8066E-275A-4B80-A4D1-B4011A1B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62000" y="5810250"/>
            <a:ext cx="4572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573902-049F-4E24-8501-3379F8E23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90625" y="6191250"/>
            <a:ext cx="5334000" cy="238125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5C53BF-6661-472C-AAD6-23B4FA4F1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047750" y="742950"/>
            <a:ext cx="40005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A8B3C1"/>
          </a:solidFill>
          <a:ln xmlns:a="http://schemas.openxmlformats.org/drawingml/2006/main" w="0">
            <a:solidFill>
              <a:srgbClr val="A8B3C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9C7D0D-19C8-46A8-8873-22A440C5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19125" y="1047750"/>
            <a:ext cx="42862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9E2EC"/>
          </a:solidFill>
          <a:ln xmlns:a="http://schemas.openxmlformats.org/drawingml/2006/main" w="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26B3A7-4B2E-44FC-9401-782BD785E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6A000"/>
                </a:solidFill>
              </a:defRPr>
            </a:pPr>
            <a:r>
              <a:rPr sz="1200" b="1">
                <a:solidFill>
                  <a:srgbClr val="F6A000"/>
                </a:solidFill>
              </a:rPr>
              <a:t>CONCLUSIONES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667A3-2820-426B-B874-2AB4AA00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52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APORTE DEL PROYECTO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642E8E-B3F6-4EAD-A5AE-30C68B1D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9334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0">
                <a:solidFill>
                  <a:srgbClr val="FFFFFF"/>
                </a:solidFill>
              </a:defRPr>
            </a:pPr>
            <a:r>
              <a:rPr sz="2250" b="0">
                <a:solidFill>
                  <a:srgbClr val="FFFFFF"/>
                </a:solidFill>
              </a:rPr>
              <a:t>EuroSky Connect demuestra que la teoría de grafos puede aplicarse a un problema operativo real: seleccionar rutas aéreas que equilibren costo, tiempo, escalas y rentabilidad.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22D137-5DD1-40A0-A53C-162456FD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62375"/>
            <a:ext cx="9334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D7DEE8"/>
                </a:solidFill>
              </a:defRPr>
            </a:pPr>
            <a:r>
              <a:rPr sz="2100" b="0">
                <a:solidFill>
                  <a:srgbClr val="D7DEE8"/>
                </a:solidFill>
              </a:rPr>
              <a:t>La arquitectura con JSON, Node.js, Express, C++ y Google Maps permite una solución ligera, visual y extensible. Además, el diseño del motor facilita incorporar nuevos algoritmos para futuras comparaciones académicas.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7A79D-00BC-4BA1-8E20-09AA2C1D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8162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F6A000"/>
                </a:solidFill>
              </a:defRPr>
            </a:pPr>
            <a:r>
              <a:rPr sz="3300" b="1">
                <a:solidFill>
                  <a:srgbClr val="F6A000"/>
                </a:solidFill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1530882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2026-06-28T21:08:45.3470000Z</dcterms:created>
  <dcterms:modified xsi:type="dcterms:W3CDTF">2026-06-28T21:08:45.3470000Z</dcterms:modified>
</coreProperties>
</file>